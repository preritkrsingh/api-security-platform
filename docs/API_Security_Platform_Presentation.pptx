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(Friend 1):</a:t>
            </a:r>
          </a:p>
          <a:p/>
          <a:p>
            <a:r>
              <a:t>'Good morning respected professors and evaluators. Today, our team is presenting our B.Tech capstone project: AI-Based API Security Platform. Modern web and mobile applications rely heavily on microservices communicating through APIs. Our platform operates as a centralized security gateway that protects these backend APIs from automated bots, credential abuse, and network attacks.'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(Friend 1):</a:t>
            </a:r>
          </a:p>
          <a:p/>
          <a:p>
            <a:r>
              <a:t>'As applications move to microservices, traditional firewalls are no longer enough. Firewalls check ports and IPs, but they cannot verify if an API key is valid or if a client is abusing an endpoint. Furthermore, traditional firewalls inspect user data, which creates privacy issues. Our motivation was to build a security gateway that enforces cryptographic authentication and rate limiting at the network perimeter without reading or storing sensitive customer data.'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(Friend 1):</a:t>
            </a:r>
          </a:p>
          <a:p/>
          <a:p>
            <a:r>
              <a:t>'Our project follows a structured 6-phase engineering lifecycle. For today’s Phase 2 evaluation, our team has completed the first two milestones representing 30% of the project scope. We have built the containerized gateway, control plane, dynamic routing, and security policies. Phase 3, which introduces machine-learning anomaly detection, is our next milestone. Now, my teammate [Friend 2] will explain the system architecture and database design.'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(Friend 2):</a:t>
            </a:r>
          </a:p>
          <a:p/>
          <a:p>
            <a:r>
              <a:t>'Here is our system architecture. We use a decoupled reverse-proxy model. External clients never connect directly to the backend; all requests must enter through our API Gateway on port 8080. The gateway validates credentials, checks policies, and forwards clean requests to the upstream backend. In the background, operational telemetry is dispatched asynchronously to the Control Plane so security checks never slow down client requests.'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(Friend 2):</a:t>
            </a:r>
          </a:p>
          <a:p/>
          <a:p>
            <a:r>
              <a:t>'Our persistence layer is managed by PostgreSQL 16 using Spring Data JPA. We designed 5 primary tables. Projects serve as organizational boundaries for multi-tenant teams. Within each project, administrators register API endpoints and set rules like allowed HTTP methods and rate limits. A key design rule is that raw API keys and customer request bodies are never stored in the database.'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(Friend 2):</a:t>
            </a:r>
          </a:p>
          <a:p/>
          <a:p>
            <a:r>
              <a:t>'The Control Plane is the administrative hub of our platform. It isolates development, testing, and production environments so configurations never collide. When a new API is registered, the system probes the target server to measure its response latency. Administrators can monitor real-time traffic telemetry and manage security policies directly from our React 19 dashboard. Now, our technical lead [Your Name] will explain our cryptographic keys, SSRF protection, gateway pipeline, and rate limiting.'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(You - Tech Lead):</a:t>
            </a:r>
          </a:p>
          <a:p/>
          <a:p>
            <a:r>
              <a:t>'For API identity, we implement an enterprise cryptographic key lifecycle. The platform generates 256-bit cryptographically random keys using Java’s SecureRandom. To prevent credential theft, the raw key is displayed to the administrator exactly once. The database stores only the SHA-256 hash. When a request arrives, the gateway hashes the key and checks it in constant time. If a key is compromised, revoking it in the control plane instantly blocks any further access across the gateway.'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(You - Tech Lead):</a:t>
            </a:r>
          </a:p>
          <a:p/>
          <a:p>
            <a:r>
              <a:t>'Another critical defense is Server-Side Request Forgery protection. In cloud platforms like AWS or GCP, attackers try to configure backend targets pointing to link-local metadata at 169.254.169.254 to steal instance credentials. Before any upstream API is registered, our SsrfProtectionService resolves its DNS hostname and blocks internal subnets, loopbacks, and cloud metadata endpoints.'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(You - Tech Lead):</a:t>
            </a:r>
          </a:p>
          <a:p/>
          <a:p>
            <a:r>
              <a:t>'The core traffic enforcement occurs in our gateway's DynamicProxyFilter. When traffic arrives at /proxy/{apiId}/path, the filter executes a non-blocking inspection pipeline. It verifies the API is active, validates the cryptographic key, checks permitted HTTP methods, validates path prefixes, and limits request body sizes. Crucially, the gateway strips the secret X-API-Key header before forwarding, so internal backend services are completely isolated from client authentication secrets.'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(You - Tech Lead):</a:t>
            </a:r>
          </a:p>
          <a:p/>
          <a:p>
            <a:r>
              <a:t>'To defend against denial-of-service and brute-force scraping, we engineered a dual-tier rate limiter. In production, it uses Redis atomic counters on a 1-second sliding window for distributed rate limiting. If Redis drops or during local development, it automatically falls back to an internal Java Token Bucket algorithm with a 300ms timeout, ensuring zero downtime and returning HTTP 429 when limits are exceeded. Now, my teammate [Friend 4] will cover our AI roadmap and conclusion.'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(Friend 4):</a:t>
            </a:r>
          </a:p>
          <a:p/>
          <a:p>
            <a:r>
              <a:t>'Looking ahead to Phase 3, our next milestone is integrating our AI Threat Detection engine. We will use a machine-learning algorithm called Isolation Forest in Python. It will analyze traffic velocity, response times, and error patterns in the background to automatically flag suspicious bots and hackers without slowing down legitimate users.'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(Friend 4):</a:t>
            </a:r>
          </a:p>
          <a:p/>
          <a:p>
            <a:r>
              <a:t>'To conclude, our team has successfully implemented Phase 1 and Phase 2 of our API Security Platform. We have built a working, scalable security gateway that protects backend microservices with zero code changes, backed by strong cryptographic controls and automated rate limiting. Thank you for your time, and we are now ready to take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05840"/>
            <a:ext cx="3840480" cy="365760"/>
          </a:xfrm>
          <a:prstGeom prst="roundRect">
            <a:avLst/>
          </a:prstGeom>
          <a:solidFill>
            <a:srgbClr val="1A233A"/>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8BDF8"/>
                </a:solidFill>
              </a:defRPr>
            </a:pPr>
            <a:r>
              <a:t>B.TECH CSE CAPSTONE PROJECT  |  PHASE 2 EVALUATION</a:t>
            </a:r>
          </a:p>
        </p:txBody>
      </p:sp>
      <p:sp>
        <p:nvSpPr>
          <p:cNvPr id="4" name="TextBox 3"/>
          <p:cNvSpPr txBox="1"/>
          <p:nvPr/>
        </p:nvSpPr>
        <p:spPr>
          <a:xfrm>
            <a:off x="914400" y="1463040"/>
            <a:ext cx="10332720" cy="1463040"/>
          </a:xfrm>
          <a:prstGeom prst="rect">
            <a:avLst/>
          </a:prstGeom>
          <a:noFill/>
        </p:spPr>
        <p:txBody>
          <a:bodyPr wrap="none">
            <a:spAutoFit/>
          </a:bodyPr>
          <a:lstStyle/>
          <a:p>
            <a:pPr>
              <a:defRPr sz="4000" b="1">
                <a:solidFill>
                  <a:srgbClr val="F8FAFC"/>
                </a:solidFill>
              </a:defRPr>
            </a:pPr>
            <a:r>
              <a:t>AI-Based API Security Platform</a:t>
            </a:r>
          </a:p>
          <a:p>
            <a:pPr>
              <a:defRPr sz="2000">
                <a:solidFill>
                  <a:srgbClr val="818CF8"/>
                </a:solidFill>
              </a:defRPr>
            </a:pPr>
            <a:r>
              <a:t>An Intelligent Reverse-Proxy Gateway &amp; Control Plane for Microservices</a:t>
            </a:r>
          </a:p>
        </p:txBody>
      </p:sp>
      <p:sp>
        <p:nvSpPr>
          <p:cNvPr id="5" name="Rounded Rectangle 4"/>
          <p:cNvSpPr/>
          <p:nvPr/>
        </p:nvSpPr>
        <p:spPr>
          <a:xfrm>
            <a:off x="914400" y="3291840"/>
            <a:ext cx="4937760" cy="2560320"/>
          </a:xfrm>
          <a:prstGeom prst="roundRect">
            <a:avLst/>
          </a:prstGeom>
          <a:solidFill>
            <a:srgbClr val="141B2D"/>
          </a:solidFill>
          <a:ln>
            <a:solidFill>
              <a:srgbClr val="26324E"/>
            </a:solidFill>
          </a:ln>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defRPr sz="1300" b="1">
                <a:solidFill>
                  <a:srgbClr val="38BDF8"/>
                </a:solidFill>
              </a:defRPr>
            </a:pPr>
            <a:r>
              <a:t>PROJECT TEAM MEMBERS</a:t>
            </a:r>
          </a:p>
          <a:p>
            <a:pPr>
              <a:defRPr sz="1300">
                <a:solidFill>
                  <a:srgbClr val="F8FAFC"/>
                </a:solidFill>
              </a:defRPr>
            </a:pPr>
            <a:r>
              <a:t>•  Friend 1 (Speaker 1)</a:t>
            </a:r>
          </a:p>
          <a:p>
            <a:pPr>
              <a:defRPr sz="1300">
                <a:solidFill>
                  <a:srgbClr val="F8FAFC"/>
                </a:solidFill>
              </a:defRPr>
            </a:pPr>
            <a:r>
              <a:t>•  Friend 2 (Speaker 2)</a:t>
            </a:r>
          </a:p>
          <a:p>
            <a:pPr>
              <a:defRPr sz="1300">
                <a:solidFill>
                  <a:srgbClr val="F8FAFC"/>
                </a:solidFill>
              </a:defRPr>
            </a:pPr>
            <a:r>
              <a:t>•  You / Lead (Speaker 3 - Technical Lead)</a:t>
            </a:r>
          </a:p>
          <a:p>
            <a:pPr>
              <a:defRPr sz="1300">
                <a:solidFill>
                  <a:srgbClr val="F8FAFC"/>
                </a:solidFill>
              </a:defRPr>
            </a:pPr>
            <a:r>
              <a:t>•  Friend 4 (Speaker 4)</a:t>
            </a:r>
          </a:p>
        </p:txBody>
      </p:sp>
      <p:sp>
        <p:nvSpPr>
          <p:cNvPr id="6" name="Rounded Rectangle 5"/>
          <p:cNvSpPr/>
          <p:nvPr/>
        </p:nvSpPr>
        <p:spPr>
          <a:xfrm>
            <a:off x="6217920" y="3291840"/>
            <a:ext cx="5029200" cy="2560320"/>
          </a:xfrm>
          <a:prstGeom prst="roundRect">
            <a:avLst/>
          </a:prstGeom>
          <a:solidFill>
            <a:srgbClr val="141B2D"/>
          </a:solidFill>
          <a:ln>
            <a:solidFill>
              <a:srgbClr val="26324E"/>
            </a:solidFill>
          </a:ln>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defRPr sz="1300" b="1">
                <a:solidFill>
                  <a:srgbClr val="818CF8"/>
                </a:solidFill>
              </a:defRPr>
            </a:pPr>
            <a:r>
              <a:t>ACADEMIC DETAILS</a:t>
            </a:r>
          </a:p>
          <a:p>
            <a:pPr>
              <a:defRPr sz="1300">
                <a:solidFill>
                  <a:srgbClr val="F8FAFC"/>
                </a:solidFill>
              </a:defRPr>
            </a:pPr>
            <a:r>
              <a:t>•  Department: Computer Science &amp; Engineering</a:t>
            </a:r>
          </a:p>
          <a:p>
            <a:pPr>
              <a:defRPr sz="1300">
                <a:solidFill>
                  <a:srgbClr val="F8FAFC"/>
                </a:solidFill>
              </a:defRPr>
            </a:pPr>
            <a:r>
              <a:t>•  Domain: Cyber Security &amp; Cloud Computing</a:t>
            </a:r>
          </a:p>
          <a:p>
            <a:pPr>
              <a:defRPr sz="1300">
                <a:solidFill>
                  <a:srgbClr val="F8FAFC"/>
                </a:solidFill>
              </a:defRPr>
            </a:pPr>
            <a:r>
              <a:t>•  Project Guide: [Project Guide Name]</a:t>
            </a:r>
          </a:p>
          <a:p>
            <a:pPr>
              <a:defRPr sz="1300">
                <a:solidFill>
                  <a:srgbClr val="F8FAFC"/>
                </a:solidFill>
              </a:defRPr>
            </a:pPr>
            <a:r>
              <a:t>•  Institution: [College / University Name]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347472"/>
          </a:xfrm>
          <a:prstGeom prst="roundRect">
            <a:avLst/>
          </a:prstGeom>
          <a:solidFill>
            <a:srgbClr val="1E2944"/>
          </a:solidFill>
          <a:ln>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38BDF8"/>
                </a:solidFill>
              </a:defRPr>
            </a:pPr>
            <a:r>
              <a:t>SLIDE 02/12  |  SPEAKER: FRIEND 1</a:t>
            </a:r>
          </a:p>
        </p:txBody>
      </p:sp>
      <p:sp>
        <p:nvSpPr>
          <p:cNvPr id="4" name="TextBox 3"/>
          <p:cNvSpPr txBox="1"/>
          <p:nvPr/>
        </p:nvSpPr>
        <p:spPr>
          <a:xfrm>
            <a:off x="731520" y="777240"/>
            <a:ext cx="10698480" cy="731520"/>
          </a:xfrm>
          <a:prstGeom prst="rect">
            <a:avLst/>
          </a:prstGeom>
          <a:noFill/>
        </p:spPr>
        <p:txBody>
          <a:bodyPr wrap="square">
            <a:spAutoFit/>
          </a:bodyPr>
          <a:lstStyle/>
          <a:p>
            <a:pPr>
              <a:defRPr sz="2600" b="1">
                <a:solidFill>
                  <a:srgbClr val="F8FAFC"/>
                </a:solidFill>
              </a:defRPr>
            </a:pPr>
            <a:r>
              <a:t>Problem Statement &amp; Motivation</a:t>
            </a:r>
          </a:p>
        </p:txBody>
      </p:sp>
      <p:sp>
        <p:nvSpPr>
          <p:cNvPr id="5" name="Rectangle 4"/>
          <p:cNvSpPr/>
          <p:nvPr/>
        </p:nvSpPr>
        <p:spPr>
          <a:xfrm>
            <a:off x="731520" y="1536192"/>
            <a:ext cx="137160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920240"/>
            <a:ext cx="3383280" cy="4114800"/>
          </a:xfrm>
          <a:prstGeom prst="roundRect">
            <a:avLst/>
          </a:prstGeom>
          <a:solidFill>
            <a:srgbClr val="141B2D"/>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274320" tIns="365760"/>
          <a:lstStyle/>
          <a:p>
            <a:pPr algn="ctr">
              <a:defRPr sz="1700" b="1">
                <a:solidFill>
                  <a:srgbClr val="38BDF8"/>
                </a:solidFill>
              </a:defRPr>
            </a:pPr>
            <a:r>
              <a:t>API Dominance</a:t>
            </a:r>
          </a:p>
          <a:p>
            <a:pPr>
              <a:defRPr sz="1300">
                <a:solidFill>
                  <a:srgbClr val="F8FAFC"/>
                </a:solidFill>
              </a:defRPr>
            </a:pPr>
            <a:r>
              <a:t>APIs make up over 80% of all internet traffic today. Every web and mobile app relies on backend microservice endpoints.</a:t>
            </a:r>
          </a:p>
        </p:txBody>
      </p:sp>
      <p:sp>
        <p:nvSpPr>
          <p:cNvPr id="7" name="Rounded Rectangle 6"/>
          <p:cNvSpPr/>
          <p:nvPr/>
        </p:nvSpPr>
        <p:spPr>
          <a:xfrm>
            <a:off x="4389120" y="1920240"/>
            <a:ext cx="3383280" cy="4114800"/>
          </a:xfrm>
          <a:prstGeom prst="roundRect">
            <a:avLst/>
          </a:prstGeom>
          <a:solidFill>
            <a:srgbClr val="141B2D"/>
          </a:solidFill>
          <a:ln>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lIns="274320" tIns="365760"/>
          <a:lstStyle/>
          <a:p>
            <a:pPr algn="ctr">
              <a:defRPr sz="1700" b="1">
                <a:solidFill>
                  <a:srgbClr val="818CF8"/>
                </a:solidFill>
              </a:defRPr>
            </a:pPr>
            <a:r>
              <a:t>Traditional WAF Limits</a:t>
            </a:r>
          </a:p>
          <a:p>
            <a:pPr>
              <a:defRPr sz="1300">
                <a:solidFill>
                  <a:srgbClr val="F8FAFC"/>
                </a:solidFill>
              </a:defRPr>
            </a:pPr>
            <a:r>
              <a:t>Firewalls inspect IP addresses and ports, but fail to understand API identities, tokens, or abnormal velocity patterns.</a:t>
            </a:r>
          </a:p>
        </p:txBody>
      </p:sp>
      <p:sp>
        <p:nvSpPr>
          <p:cNvPr id="8" name="Rounded Rectangle 7"/>
          <p:cNvSpPr/>
          <p:nvPr/>
        </p:nvSpPr>
        <p:spPr>
          <a:xfrm>
            <a:off x="8046720" y="1920240"/>
            <a:ext cx="3383280" cy="4114800"/>
          </a:xfrm>
          <a:prstGeom prst="roundRect">
            <a:avLst/>
          </a:prstGeom>
          <a:solidFill>
            <a:srgbClr val="141B2D"/>
          </a:solidFill>
          <a:ln>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lIns="274320" tIns="365760"/>
          <a:lstStyle/>
          <a:p>
            <a:pPr algn="ctr">
              <a:defRPr sz="1700" b="1">
                <a:solidFill>
                  <a:srgbClr val="F43F5E"/>
                </a:solidFill>
              </a:defRPr>
            </a:pPr>
            <a:r>
              <a:t>Common Threat Vectors</a:t>
            </a:r>
          </a:p>
          <a:p>
            <a:pPr>
              <a:defRPr sz="1300">
                <a:solidFill>
                  <a:srgbClr val="F8FAFC"/>
                </a:solidFill>
              </a:defRPr>
            </a:pPr>
            <a:r>
              <a:t>• Automated Bot &amp; Credential Stuffing</a:t>
            </a:r>
            <a:br/>
            <a:r>
              <a:t>• Server Overloading (Denial of Service)</a:t>
            </a:r>
            <a:br/>
            <a:r>
              <a:t>• Server-Side Request Forgery (SSRF)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347472"/>
          </a:xfrm>
          <a:prstGeom prst="roundRect">
            <a:avLst/>
          </a:prstGeom>
          <a:solidFill>
            <a:srgbClr val="1E2944"/>
          </a:solidFill>
          <a:ln>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38BDF8"/>
                </a:solidFill>
              </a:defRPr>
            </a:pPr>
            <a:r>
              <a:t>SLIDE 03/12  |  SPEAKER: FRIEND 1</a:t>
            </a:r>
          </a:p>
        </p:txBody>
      </p:sp>
      <p:sp>
        <p:nvSpPr>
          <p:cNvPr id="4" name="TextBox 3"/>
          <p:cNvSpPr txBox="1"/>
          <p:nvPr/>
        </p:nvSpPr>
        <p:spPr>
          <a:xfrm>
            <a:off x="731520" y="777240"/>
            <a:ext cx="10698480" cy="731520"/>
          </a:xfrm>
          <a:prstGeom prst="rect">
            <a:avLst/>
          </a:prstGeom>
          <a:noFill/>
        </p:spPr>
        <p:txBody>
          <a:bodyPr wrap="square">
            <a:spAutoFit/>
          </a:bodyPr>
          <a:lstStyle/>
          <a:p>
            <a:pPr>
              <a:defRPr sz="2600" b="1">
                <a:solidFill>
                  <a:srgbClr val="F8FAFC"/>
                </a:solidFill>
              </a:defRPr>
            </a:pPr>
            <a:r>
              <a:t>Project Progress &amp; Phased Scope</a:t>
            </a:r>
          </a:p>
        </p:txBody>
      </p:sp>
      <p:sp>
        <p:nvSpPr>
          <p:cNvPr id="5" name="Rectangle 4"/>
          <p:cNvSpPr/>
          <p:nvPr/>
        </p:nvSpPr>
        <p:spPr>
          <a:xfrm>
            <a:off x="731520" y="1536192"/>
            <a:ext cx="137160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920240"/>
            <a:ext cx="5120640" cy="4114800"/>
          </a:xfrm>
          <a:prstGeom prst="roundRect">
            <a:avLst/>
          </a:prstGeom>
          <a:solidFill>
            <a:srgbClr val="141B2D"/>
          </a:solidFill>
          <a:ln>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defRPr sz="1600" b="1">
                <a:solidFill>
                  <a:srgbClr val="34D399"/>
                </a:solidFill>
              </a:defRPr>
            </a:pPr>
            <a:r>
              <a:t>DELIVERED IN CURRENT SCOPE (30%)</a:t>
            </a:r>
          </a:p>
          <a:p>
            <a:pPr>
              <a:defRPr sz="1200">
                <a:solidFill>
                  <a:srgbClr val="F8FAFC"/>
                </a:solidFill>
              </a:defRPr>
            </a:pPr>
            <a:r>
              <a:t>Phase 1: Foundation &amp; Architecture (10%)</a:t>
            </a:r>
          </a:p>
          <a:p>
            <a:pPr>
              <a:defRPr sz="1200">
                <a:solidFill>
                  <a:srgbClr val="F8FAFC"/>
                </a:solidFill>
              </a:defRPr>
            </a:pPr>
            <a:r>
              <a:t>  ✔ Multi-module reactive Spring Cloud Gateway</a:t>
            </a:r>
          </a:p>
          <a:p>
            <a:pPr>
              <a:defRPr sz="1200">
                <a:solidFill>
                  <a:srgbClr val="F8FAFC"/>
                </a:solidFill>
              </a:defRPr>
            </a:pPr>
            <a:r>
              <a:t>  ✔ Docker Compose containerized environment</a:t>
            </a:r>
          </a:p>
          <a:p>
            <a:pPr>
              <a:defRPr sz="1200">
                <a:solidFill>
                  <a:srgbClr val="F8FAFC"/>
                </a:solidFill>
              </a:defRPr>
            </a:pPr>
            <a:r>
              <a:t>  ✔ PostgreSQL database persistence layer</a:t>
            </a:r>
          </a:p>
          <a:p>
            <a:pPr>
              <a:defRPr sz="1200">
                <a:solidFill>
                  <a:srgbClr val="F8FAFC"/>
                </a:solidFill>
              </a:defRPr>
            </a:pPr>
          </a:p>
          <a:p>
            <a:pPr>
              <a:defRPr sz="1200">
                <a:solidFill>
                  <a:srgbClr val="F8FAFC"/>
                </a:solidFill>
              </a:defRPr>
            </a:pPr>
            <a:r>
              <a:t>Phase 2: Core Backend &amp; Security Gateway (20%)</a:t>
            </a:r>
          </a:p>
          <a:p>
            <a:pPr>
              <a:defRPr sz="1200">
                <a:solidFill>
                  <a:srgbClr val="F8FAFC"/>
                </a:solidFill>
              </a:defRPr>
            </a:pPr>
            <a:r>
              <a:t>  ✔ Dynamic routing (/proxy/{apiId}/**)</a:t>
            </a:r>
          </a:p>
          <a:p>
            <a:pPr>
              <a:defRPr sz="1200">
                <a:solidFill>
                  <a:srgbClr val="F8FAFC"/>
                </a:solidFill>
              </a:defRPr>
            </a:pPr>
            <a:r>
              <a:t>  ✔ Cryptographic 256-bit API key management</a:t>
            </a:r>
          </a:p>
          <a:p>
            <a:pPr>
              <a:defRPr sz="1200">
                <a:solidFill>
                  <a:srgbClr val="F8FAFC"/>
                </a:solidFill>
              </a:defRPr>
            </a:pPr>
            <a:r>
              <a:t>  ✔ Token-bucket &amp; Redis-backed rate limiting</a:t>
            </a:r>
          </a:p>
          <a:p>
            <a:pPr>
              <a:defRPr sz="1200">
                <a:solidFill>
                  <a:srgbClr val="F8FAFC"/>
                </a:solidFill>
              </a:defRPr>
            </a:pPr>
            <a:r>
              <a:t>  ✔ SSRF protection &amp; header sanitization</a:t>
            </a:r>
          </a:p>
        </p:txBody>
      </p:sp>
      <p:sp>
        <p:nvSpPr>
          <p:cNvPr id="7" name="Rounded Rectangle 6"/>
          <p:cNvSpPr/>
          <p:nvPr/>
        </p:nvSpPr>
        <p:spPr>
          <a:xfrm>
            <a:off x="6217920" y="1920240"/>
            <a:ext cx="5212080" cy="4114800"/>
          </a:xfrm>
          <a:prstGeom prst="roundRect">
            <a:avLst/>
          </a:prstGeom>
          <a:solidFill>
            <a:srgbClr val="141B2D"/>
          </a:solidFill>
          <a:ln>
            <a:solidFill>
              <a:srgbClr val="26324E"/>
            </a:solidFill>
          </a:ln>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defRPr sz="1600" b="1">
                <a:solidFill>
                  <a:srgbClr val="818CF8"/>
                </a:solidFill>
              </a:defRPr>
            </a:pPr>
            <a:r>
              <a:t>UPCOMING FUTURE PHASES (70%)</a:t>
            </a:r>
          </a:p>
          <a:p>
            <a:pPr>
              <a:defRPr sz="1200">
                <a:solidFill>
                  <a:srgbClr val="94A3B8"/>
                </a:solidFill>
              </a:defRPr>
            </a:pPr>
            <a:r>
              <a:t>Phase 3: AI Threat Detection Engine (20%)</a:t>
            </a:r>
          </a:p>
          <a:p>
            <a:pPr>
              <a:defRPr sz="1200">
                <a:solidFill>
                  <a:srgbClr val="94A3B8"/>
                </a:solidFill>
              </a:defRPr>
            </a:pPr>
            <a:r>
              <a:t>  • Unsupervised Isolation Forest anomaly detection</a:t>
            </a:r>
          </a:p>
          <a:p>
            <a:pPr>
              <a:defRPr sz="1200">
                <a:solidFill>
                  <a:srgbClr val="94A3B8"/>
                </a:solidFill>
              </a:defRPr>
            </a:pPr>
            <a:r>
              <a:t>  • Path traversal &amp; automated scanner detection</a:t>
            </a:r>
          </a:p>
          <a:p>
            <a:pPr>
              <a:defRPr sz="1200">
                <a:solidFill>
                  <a:srgbClr val="94A3B8"/>
                </a:solidFill>
              </a:defRPr>
            </a:pPr>
          </a:p>
          <a:p>
            <a:pPr>
              <a:defRPr sz="1200">
                <a:solidFill>
                  <a:srgbClr val="94A3B8"/>
                </a:solidFill>
              </a:defRPr>
            </a:pPr>
            <a:r>
              <a:t>Phase 4: Risk Assessment &amp; Mitigation (10%)</a:t>
            </a:r>
          </a:p>
          <a:p>
            <a:pPr>
              <a:defRPr sz="1200">
                <a:solidFill>
                  <a:srgbClr val="94A3B8"/>
                </a:solidFill>
              </a:defRPr>
            </a:pPr>
            <a:r>
              <a:t>  • Dynamic risk scoring &amp; automated IP banning</a:t>
            </a:r>
          </a:p>
          <a:p>
            <a:pPr>
              <a:defRPr sz="1200">
                <a:solidFill>
                  <a:srgbClr val="94A3B8"/>
                </a:solidFill>
              </a:defRPr>
            </a:pPr>
          </a:p>
          <a:p>
            <a:pPr>
              <a:defRPr sz="1200">
                <a:solidFill>
                  <a:srgbClr val="94A3B8"/>
                </a:solidFill>
              </a:defRPr>
            </a:pPr>
            <a:r>
              <a:t>Phase 5 &amp; 6: SOC Dashboard &amp; Evaluation (40%)</a:t>
            </a:r>
          </a:p>
          <a:p>
            <a:pPr>
              <a:defRPr sz="1200">
                <a:solidFill>
                  <a:srgbClr val="94A3B8"/>
                </a:solidFill>
              </a:defRPr>
            </a:pPr>
            <a:r>
              <a:t>  • Security Operations Center visualizations</a:t>
            </a:r>
          </a:p>
          <a:p>
            <a:pPr>
              <a:defRPr sz="1200">
                <a:solidFill>
                  <a:srgbClr val="94A3B8"/>
                </a:solidFill>
              </a:defRPr>
            </a:pPr>
            <a:r>
              <a:t>  • Red-team attack simulation &amp; formal benchmarking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347472"/>
          </a:xfrm>
          <a:prstGeom prst="roundRect">
            <a:avLst/>
          </a:prstGeom>
          <a:solidFill>
            <a:srgbClr val="1E2944"/>
          </a:solidFill>
          <a:ln>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38BDF8"/>
                </a:solidFill>
              </a:defRPr>
            </a:pPr>
            <a:r>
              <a:t>SLIDE 04/12  |  SPEAKER: FRIEND 2</a:t>
            </a:r>
          </a:p>
        </p:txBody>
      </p:sp>
      <p:sp>
        <p:nvSpPr>
          <p:cNvPr id="4" name="TextBox 3"/>
          <p:cNvSpPr txBox="1"/>
          <p:nvPr/>
        </p:nvSpPr>
        <p:spPr>
          <a:xfrm>
            <a:off x="731520" y="777240"/>
            <a:ext cx="10698480" cy="731520"/>
          </a:xfrm>
          <a:prstGeom prst="rect">
            <a:avLst/>
          </a:prstGeom>
          <a:noFill/>
        </p:spPr>
        <p:txBody>
          <a:bodyPr wrap="square">
            <a:spAutoFit/>
          </a:bodyPr>
          <a:lstStyle/>
          <a:p>
            <a:pPr>
              <a:defRPr sz="2600" b="1">
                <a:solidFill>
                  <a:srgbClr val="F8FAFC"/>
                </a:solidFill>
              </a:defRPr>
            </a:pPr>
            <a:r>
              <a:t>System Architecture: Decoupled Reverse Proxy</a:t>
            </a:r>
          </a:p>
        </p:txBody>
      </p:sp>
      <p:sp>
        <p:nvSpPr>
          <p:cNvPr id="5" name="Rectangle 4"/>
          <p:cNvSpPr/>
          <p:nvPr/>
        </p:nvSpPr>
        <p:spPr>
          <a:xfrm>
            <a:off x="731520" y="1536192"/>
            <a:ext cx="137160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2011680"/>
            <a:ext cx="3383280" cy="3931920"/>
          </a:xfrm>
          <a:prstGeom prst="roundRect">
            <a:avLst/>
          </a:prstGeom>
          <a:solidFill>
            <a:srgbClr val="141B2D"/>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defRPr sz="1600" b="1">
                <a:solidFill>
                  <a:srgbClr val="38BDF8"/>
                </a:solidFill>
              </a:defRPr>
            </a:pPr>
            <a:r>
              <a:t>1. Ingress Gateway</a:t>
            </a:r>
          </a:p>
          <a:p>
            <a:pPr>
              <a:defRPr sz="1200">
                <a:solidFill>
                  <a:srgbClr val="F8FAFC"/>
                </a:solidFill>
              </a:defRPr>
            </a:pPr>
            <a:r>
              <a:t>Port: 8080 (Spring Cloud Gateway)</a:t>
            </a:r>
            <a:br/>
            <a:br/>
            <a:r>
              <a:t>• Intercepts /proxy/{apiId}/**</a:t>
            </a:r>
            <a:br/>
            <a:r>
              <a:t>• Verifies API Keys &amp; Tokens</a:t>
            </a:r>
            <a:br/>
            <a:r>
              <a:t>• Enforces Rate Limits</a:t>
            </a:r>
            <a:br/>
            <a:r>
              <a:t>• Strips secret credentials</a:t>
            </a:r>
          </a:p>
        </p:txBody>
      </p:sp>
      <p:sp>
        <p:nvSpPr>
          <p:cNvPr id="7" name="Rounded Rectangle 6"/>
          <p:cNvSpPr/>
          <p:nvPr/>
        </p:nvSpPr>
        <p:spPr>
          <a:xfrm>
            <a:off x="4389120" y="2011680"/>
            <a:ext cx="3383280" cy="3931920"/>
          </a:xfrm>
          <a:prstGeom prst="roundRect">
            <a:avLst/>
          </a:prstGeom>
          <a:solidFill>
            <a:srgbClr val="141B2D"/>
          </a:solidFill>
          <a:ln>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defRPr sz="1600" b="1">
                <a:solidFill>
                  <a:srgbClr val="818CF8"/>
                </a:solidFill>
              </a:defRPr>
            </a:pPr>
            <a:r>
              <a:t>2. Control Plane</a:t>
            </a:r>
          </a:p>
          <a:p>
            <a:pPr>
              <a:defRPr sz="1200">
                <a:solidFill>
                  <a:srgbClr val="F8FAFC"/>
                </a:solidFill>
              </a:defRPr>
            </a:pPr>
            <a:r>
              <a:t>Port: 8082 (Spring Boot)</a:t>
            </a:r>
            <a:br/>
            <a:br/>
            <a:r>
              <a:t>• Project &amp; API Management</a:t>
            </a:r>
            <a:br/>
            <a:r>
              <a:t>• SSRF Security Validation</a:t>
            </a:r>
            <a:br/>
            <a:r>
              <a:t>• SHA-256 Key Generation</a:t>
            </a:r>
            <a:br/>
            <a:r>
              <a:t>• Traffic Telemetry Logging</a:t>
            </a:r>
          </a:p>
        </p:txBody>
      </p:sp>
      <p:sp>
        <p:nvSpPr>
          <p:cNvPr id="8" name="Rounded Rectangle 7"/>
          <p:cNvSpPr/>
          <p:nvPr/>
        </p:nvSpPr>
        <p:spPr>
          <a:xfrm>
            <a:off x="8046720" y="2011680"/>
            <a:ext cx="3383280" cy="3931920"/>
          </a:xfrm>
          <a:prstGeom prst="roundRect">
            <a:avLst/>
          </a:prstGeom>
          <a:solidFill>
            <a:srgbClr val="141B2D"/>
          </a:solidFill>
          <a:ln>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defRPr sz="1600" b="1">
                <a:solidFill>
                  <a:srgbClr val="34D399"/>
                </a:solidFill>
              </a:defRPr>
            </a:pPr>
            <a:r>
              <a:t>3. Protected Backend</a:t>
            </a:r>
          </a:p>
          <a:p>
            <a:pPr>
              <a:defRPr sz="1200">
                <a:solidFill>
                  <a:srgbClr val="F8FAFC"/>
                </a:solidFill>
              </a:defRPr>
            </a:pPr>
            <a:r>
              <a:t>Port: 8081 (ShopNex E-Commerce)</a:t>
            </a:r>
            <a:br/>
            <a:br/>
            <a:r>
              <a:t>• Real-world target microservice</a:t>
            </a:r>
            <a:br/>
            <a:r>
              <a:t>• Products, Cart, Orders</a:t>
            </a:r>
            <a:br/>
            <a:r>
              <a:t>• ZERO custom security code</a:t>
            </a:r>
            <a:br/>
            <a:r>
              <a:t>• Decoupled &amp; untouched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347472"/>
          </a:xfrm>
          <a:prstGeom prst="roundRect">
            <a:avLst/>
          </a:prstGeom>
          <a:solidFill>
            <a:srgbClr val="1E2944"/>
          </a:solidFill>
          <a:ln>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38BDF8"/>
                </a:solidFill>
              </a:defRPr>
            </a:pPr>
            <a:r>
              <a:t>SLIDE 05/12  |  SPEAKER: FRIEND 2</a:t>
            </a:r>
          </a:p>
        </p:txBody>
      </p:sp>
      <p:sp>
        <p:nvSpPr>
          <p:cNvPr id="4" name="TextBox 3"/>
          <p:cNvSpPr txBox="1"/>
          <p:nvPr/>
        </p:nvSpPr>
        <p:spPr>
          <a:xfrm>
            <a:off x="731520" y="777240"/>
            <a:ext cx="10698480" cy="731520"/>
          </a:xfrm>
          <a:prstGeom prst="rect">
            <a:avLst/>
          </a:prstGeom>
          <a:noFill/>
        </p:spPr>
        <p:txBody>
          <a:bodyPr wrap="square">
            <a:spAutoFit/>
          </a:bodyPr>
          <a:lstStyle/>
          <a:p>
            <a:pPr>
              <a:defRPr sz="2600" b="1">
                <a:solidFill>
                  <a:srgbClr val="F8FAFC"/>
                </a:solidFill>
              </a:defRPr>
            </a:pPr>
            <a:r>
              <a:t>Database Design &amp; Data Model</a:t>
            </a:r>
          </a:p>
        </p:txBody>
      </p:sp>
      <p:sp>
        <p:nvSpPr>
          <p:cNvPr id="5" name="Rectangle 4"/>
          <p:cNvSpPr/>
          <p:nvPr/>
        </p:nvSpPr>
        <p:spPr>
          <a:xfrm>
            <a:off x="731520" y="1536192"/>
            <a:ext cx="137160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10698480" cy="731520"/>
          </a:xfrm>
          <a:prstGeom prst="roundRect">
            <a:avLst/>
          </a:prstGeom>
          <a:solidFill>
            <a:srgbClr val="141B2D"/>
          </a:solidFill>
          <a:ln>
            <a:solidFill>
              <a:srgbClr val="26324E"/>
            </a:solidFill>
          </a:ln>
        </p:spPr>
        <p:style>
          <a:lnRef idx="1">
            <a:schemeClr val="accent1"/>
          </a:lnRef>
          <a:fillRef idx="3">
            <a:schemeClr val="accent1"/>
          </a:fillRef>
          <a:effectRef idx="2">
            <a:schemeClr val="accent1"/>
          </a:effectRef>
          <a:fontRef idx="minor">
            <a:schemeClr val="lt1"/>
          </a:fontRef>
        </p:style>
        <p:txBody>
          <a:bodyPr rtlCol="0" anchor="ctr" lIns="274320" tIns="109728"/>
          <a:lstStyle/>
          <a:p>
            <a:pPr algn="ctr">
              <a:defRPr sz="1300" b="1">
                <a:solidFill>
                  <a:srgbClr val="38BDF8"/>
                </a:solidFill>
              </a:defRPr>
            </a:pPr>
            <a:r>
              <a:t>TABLE: PROJECTS</a:t>
            </a:r>
          </a:p>
          <a:p>
            <a:pPr>
              <a:defRPr sz="1100">
                <a:solidFill>
                  <a:srgbClr val="F8FAFC"/>
                </a:solidFill>
              </a:defRPr>
            </a:pPr>
            <a:r>
              <a:t>Workspace boundary separating DEVELOPMENT, TESTING, and PRODUCTION environments with cascading cleanup.</a:t>
            </a:r>
          </a:p>
        </p:txBody>
      </p:sp>
      <p:sp>
        <p:nvSpPr>
          <p:cNvPr id="7" name="Rounded Rectangle 6"/>
          <p:cNvSpPr/>
          <p:nvPr/>
        </p:nvSpPr>
        <p:spPr>
          <a:xfrm>
            <a:off x="731520" y="2697480"/>
            <a:ext cx="10698480" cy="731520"/>
          </a:xfrm>
          <a:prstGeom prst="roundRect">
            <a:avLst/>
          </a:prstGeom>
          <a:solidFill>
            <a:srgbClr val="141B2D"/>
          </a:solidFill>
          <a:ln>
            <a:solidFill>
              <a:srgbClr val="26324E"/>
            </a:solidFill>
          </a:ln>
        </p:spPr>
        <p:style>
          <a:lnRef idx="1">
            <a:schemeClr val="accent1"/>
          </a:lnRef>
          <a:fillRef idx="3">
            <a:schemeClr val="accent1"/>
          </a:fillRef>
          <a:effectRef idx="2">
            <a:schemeClr val="accent1"/>
          </a:effectRef>
          <a:fontRef idx="minor">
            <a:schemeClr val="lt1"/>
          </a:fontRef>
        </p:style>
        <p:txBody>
          <a:bodyPr rtlCol="0" anchor="ctr" lIns="274320" tIns="109728"/>
          <a:lstStyle/>
          <a:p>
            <a:pPr algn="ctr">
              <a:defRPr sz="1300" b="1">
                <a:solidFill>
                  <a:srgbClr val="38BDF8"/>
                </a:solidFill>
              </a:defRPr>
            </a:pPr>
            <a:r>
              <a:t>TABLE: API_REGISTRATIONS</a:t>
            </a:r>
          </a:p>
          <a:p>
            <a:pPr>
              <a:defRPr sz="1100">
                <a:solidFill>
                  <a:srgbClr val="F8FAFC"/>
                </a:solidFill>
              </a:defRPr>
            </a:pPr>
            <a:r>
              <a:t>Stores upstream target URLs, allowed HTTP methods, path prefixes, timeout thresholds, and rate limits.</a:t>
            </a:r>
          </a:p>
        </p:txBody>
      </p:sp>
      <p:sp>
        <p:nvSpPr>
          <p:cNvPr id="8" name="Rounded Rectangle 7"/>
          <p:cNvSpPr/>
          <p:nvPr/>
        </p:nvSpPr>
        <p:spPr>
          <a:xfrm>
            <a:off x="731520" y="3566160"/>
            <a:ext cx="10698480" cy="731520"/>
          </a:xfrm>
          <a:prstGeom prst="roundRect">
            <a:avLst/>
          </a:prstGeom>
          <a:solidFill>
            <a:srgbClr val="141B2D"/>
          </a:solidFill>
          <a:ln>
            <a:solidFill>
              <a:srgbClr val="26324E"/>
            </a:solidFill>
          </a:ln>
        </p:spPr>
        <p:style>
          <a:lnRef idx="1">
            <a:schemeClr val="accent1"/>
          </a:lnRef>
          <a:fillRef idx="3">
            <a:schemeClr val="accent1"/>
          </a:fillRef>
          <a:effectRef idx="2">
            <a:schemeClr val="accent1"/>
          </a:effectRef>
          <a:fontRef idx="minor">
            <a:schemeClr val="lt1"/>
          </a:fontRef>
        </p:style>
        <p:txBody>
          <a:bodyPr rtlCol="0" anchor="ctr" lIns="274320" tIns="109728"/>
          <a:lstStyle/>
          <a:p>
            <a:pPr algn="ctr">
              <a:defRPr sz="1300" b="1">
                <a:solidFill>
                  <a:srgbClr val="38BDF8"/>
                </a:solidFill>
              </a:defRPr>
            </a:pPr>
            <a:r>
              <a:t>TABLE: API_KEYS</a:t>
            </a:r>
          </a:p>
          <a:p>
            <a:pPr>
              <a:defRPr sz="1100">
                <a:solidFill>
                  <a:srgbClr val="F8FAFC"/>
                </a:solidFill>
              </a:defRPr>
            </a:pPr>
            <a:r>
              <a:t>Cryptographic key store. Stores ONLY one-way SHA-256 hashes and key prefixes. Never stores plaintext secrets.</a:t>
            </a:r>
          </a:p>
        </p:txBody>
      </p:sp>
      <p:sp>
        <p:nvSpPr>
          <p:cNvPr id="9" name="Rounded Rectangle 8"/>
          <p:cNvSpPr/>
          <p:nvPr/>
        </p:nvSpPr>
        <p:spPr>
          <a:xfrm>
            <a:off x="731520" y="4434840"/>
            <a:ext cx="10698480" cy="731520"/>
          </a:xfrm>
          <a:prstGeom prst="roundRect">
            <a:avLst/>
          </a:prstGeom>
          <a:solidFill>
            <a:srgbClr val="141B2D"/>
          </a:solidFill>
          <a:ln>
            <a:solidFill>
              <a:srgbClr val="26324E"/>
            </a:solidFill>
          </a:ln>
        </p:spPr>
        <p:style>
          <a:lnRef idx="1">
            <a:schemeClr val="accent1"/>
          </a:lnRef>
          <a:fillRef idx="3">
            <a:schemeClr val="accent1"/>
          </a:fillRef>
          <a:effectRef idx="2">
            <a:schemeClr val="accent1"/>
          </a:effectRef>
          <a:fontRef idx="minor">
            <a:schemeClr val="lt1"/>
          </a:fontRef>
        </p:style>
        <p:txBody>
          <a:bodyPr rtlCol="0" anchor="ctr" lIns="274320" tIns="109728"/>
          <a:lstStyle/>
          <a:p>
            <a:pPr algn="ctr">
              <a:defRPr sz="1300" b="1">
                <a:solidFill>
                  <a:srgbClr val="38BDF8"/>
                </a:solidFill>
              </a:defRPr>
            </a:pPr>
            <a:r>
              <a:t>TABLE: TRAFFIC_RECORDS</a:t>
            </a:r>
          </a:p>
          <a:p>
            <a:pPr>
              <a:defRPr sz="1100">
                <a:solidFill>
                  <a:srgbClr val="F8FAFC"/>
                </a:solidFill>
              </a:defRPr>
            </a:pPr>
            <a:r>
              <a:t>Captures safe operational telemetry: HTTP method, path, response status, duration (ms), and client IP.</a:t>
            </a:r>
          </a:p>
        </p:txBody>
      </p:sp>
      <p:sp>
        <p:nvSpPr>
          <p:cNvPr id="10" name="Rounded Rectangle 9"/>
          <p:cNvSpPr/>
          <p:nvPr/>
        </p:nvSpPr>
        <p:spPr>
          <a:xfrm>
            <a:off x="731520" y="5303520"/>
            <a:ext cx="10698480" cy="731520"/>
          </a:xfrm>
          <a:prstGeom prst="roundRect">
            <a:avLst/>
          </a:prstGeom>
          <a:solidFill>
            <a:srgbClr val="141B2D"/>
          </a:solidFill>
          <a:ln>
            <a:solidFill>
              <a:srgbClr val="26324E"/>
            </a:solidFill>
          </a:ln>
        </p:spPr>
        <p:style>
          <a:lnRef idx="1">
            <a:schemeClr val="accent1"/>
          </a:lnRef>
          <a:fillRef idx="3">
            <a:schemeClr val="accent1"/>
          </a:fillRef>
          <a:effectRef idx="2">
            <a:schemeClr val="accent1"/>
          </a:effectRef>
          <a:fontRef idx="minor">
            <a:schemeClr val="lt1"/>
          </a:fontRef>
        </p:style>
        <p:txBody>
          <a:bodyPr rtlCol="0" anchor="ctr" lIns="274320" tIns="109728"/>
          <a:lstStyle/>
          <a:p>
            <a:pPr algn="ctr">
              <a:defRPr sz="1300" b="1">
                <a:solidFill>
                  <a:srgbClr val="38BDF8"/>
                </a:solidFill>
              </a:defRPr>
            </a:pPr>
            <a:r>
              <a:t>TABLE: SECURITY_EVENTS</a:t>
            </a:r>
          </a:p>
          <a:p>
            <a:pPr>
              <a:defRPr sz="1100">
                <a:solidFill>
                  <a:srgbClr val="F8FAFC"/>
                </a:solidFill>
              </a:defRPr>
            </a:pPr>
            <a:r>
              <a:t>Real-time audit log recording perimeter blocks (401 invalid key, 429 rate limit exceeded, 405 method blocked).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347472"/>
          </a:xfrm>
          <a:prstGeom prst="roundRect">
            <a:avLst/>
          </a:prstGeom>
          <a:solidFill>
            <a:srgbClr val="1E2944"/>
          </a:solidFill>
          <a:ln>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38BDF8"/>
                </a:solidFill>
              </a:defRPr>
            </a:pPr>
            <a:r>
              <a:t>SLIDE 06/12  |  SPEAKER: FRIEND 2</a:t>
            </a:r>
          </a:p>
        </p:txBody>
      </p:sp>
      <p:sp>
        <p:nvSpPr>
          <p:cNvPr id="4" name="TextBox 3"/>
          <p:cNvSpPr txBox="1"/>
          <p:nvPr/>
        </p:nvSpPr>
        <p:spPr>
          <a:xfrm>
            <a:off x="731520" y="777240"/>
            <a:ext cx="10698480" cy="731520"/>
          </a:xfrm>
          <a:prstGeom prst="rect">
            <a:avLst/>
          </a:prstGeom>
          <a:noFill/>
        </p:spPr>
        <p:txBody>
          <a:bodyPr wrap="square">
            <a:spAutoFit/>
          </a:bodyPr>
          <a:lstStyle/>
          <a:p>
            <a:pPr>
              <a:defRPr sz="2600" b="1">
                <a:solidFill>
                  <a:srgbClr val="F8FAFC"/>
                </a:solidFill>
              </a:defRPr>
            </a:pPr>
            <a:r>
              <a:t>Control Plane &amp; Management Console</a:t>
            </a:r>
          </a:p>
        </p:txBody>
      </p:sp>
      <p:sp>
        <p:nvSpPr>
          <p:cNvPr id="5" name="Rectangle 4"/>
          <p:cNvSpPr/>
          <p:nvPr/>
        </p:nvSpPr>
        <p:spPr>
          <a:xfrm>
            <a:off x="731520" y="1536192"/>
            <a:ext cx="137160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2011680"/>
            <a:ext cx="3383280" cy="3931920"/>
          </a:xfrm>
          <a:prstGeom prst="roundRect">
            <a:avLst/>
          </a:prstGeom>
          <a:solidFill>
            <a:srgbClr val="141B2D"/>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defRPr sz="1600" b="1">
                <a:solidFill>
                  <a:srgbClr val="38BDF8"/>
                </a:solidFill>
              </a:defRPr>
            </a:pPr>
            <a:r>
              <a:t>Multi-Environment Isolation</a:t>
            </a:r>
          </a:p>
          <a:p>
            <a:pPr>
              <a:defRPr sz="1200">
                <a:solidFill>
                  <a:srgbClr val="F8FAFC"/>
                </a:solidFill>
              </a:defRPr>
            </a:pPr>
            <a:r>
              <a:t>Manage independent API environments (Dev, Test, Prod). Cascading deletion purges child APIs, keys, and logs safely.</a:t>
            </a:r>
          </a:p>
        </p:txBody>
      </p:sp>
      <p:sp>
        <p:nvSpPr>
          <p:cNvPr id="7" name="Rounded Rectangle 6"/>
          <p:cNvSpPr/>
          <p:nvPr/>
        </p:nvSpPr>
        <p:spPr>
          <a:xfrm>
            <a:off x="4389120" y="2011680"/>
            <a:ext cx="3383280" cy="3931920"/>
          </a:xfrm>
          <a:prstGeom prst="roundRect">
            <a:avLst/>
          </a:prstGeom>
          <a:solidFill>
            <a:srgbClr val="141B2D"/>
          </a:solidFill>
          <a:ln>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defRPr sz="1600" b="1">
                <a:solidFill>
                  <a:srgbClr val="818CF8"/>
                </a:solidFill>
              </a:defRPr>
            </a:pPr>
            <a:r>
              <a:t>Live Upstream Health Probing</a:t>
            </a:r>
          </a:p>
          <a:p>
            <a:pPr>
              <a:defRPr sz="1200">
                <a:solidFill>
                  <a:srgbClr val="F8FAFC"/>
                </a:solidFill>
              </a:defRPr>
            </a:pPr>
            <a:r>
              <a:t>Out-of-band HTTP ping to determine whether backend is online, recording latency in milliseconds before routing traffic.</a:t>
            </a:r>
          </a:p>
        </p:txBody>
      </p:sp>
      <p:sp>
        <p:nvSpPr>
          <p:cNvPr id="8" name="Rounded Rectangle 7"/>
          <p:cNvSpPr/>
          <p:nvPr/>
        </p:nvSpPr>
        <p:spPr>
          <a:xfrm>
            <a:off x="8046720" y="2011680"/>
            <a:ext cx="3383280" cy="3931920"/>
          </a:xfrm>
          <a:prstGeom prst="roundRect">
            <a:avLst/>
          </a:prstGeom>
          <a:solidFill>
            <a:srgbClr val="141B2D"/>
          </a:solidFill>
          <a:ln>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defRPr sz="1600" b="1">
                <a:solidFill>
                  <a:srgbClr val="34D399"/>
                </a:solidFill>
              </a:defRPr>
            </a:pPr>
            <a:r>
              <a:t>React 19 Admin Dashboard</a:t>
            </a:r>
          </a:p>
          <a:p>
            <a:pPr>
              <a:defRPr sz="1200">
                <a:solidFill>
                  <a:srgbClr val="F8FAFC"/>
                </a:solidFill>
              </a:defRPr>
            </a:pPr>
            <a:r>
              <a:t>Sleek Single Page Application featuring an API Registration Wizard, key manager modal, and live traffic telemetry stream.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347472"/>
          </a:xfrm>
          <a:prstGeom prst="roundRect">
            <a:avLst/>
          </a:prstGeom>
          <a:solidFill>
            <a:srgbClr val="1E2944"/>
          </a:solidFill>
          <a:ln>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38BDF8"/>
                </a:solidFill>
              </a:defRPr>
            </a:pPr>
            <a:r>
              <a:t>SLIDE 07/12  |  SPEAKER: YOU (LEAD)</a:t>
            </a:r>
          </a:p>
        </p:txBody>
      </p:sp>
      <p:sp>
        <p:nvSpPr>
          <p:cNvPr id="4" name="TextBox 3"/>
          <p:cNvSpPr txBox="1"/>
          <p:nvPr/>
        </p:nvSpPr>
        <p:spPr>
          <a:xfrm>
            <a:off x="731520" y="777240"/>
            <a:ext cx="10698480" cy="731520"/>
          </a:xfrm>
          <a:prstGeom prst="rect">
            <a:avLst/>
          </a:prstGeom>
          <a:noFill/>
        </p:spPr>
        <p:txBody>
          <a:bodyPr wrap="square">
            <a:spAutoFit/>
          </a:bodyPr>
          <a:lstStyle/>
          <a:p>
            <a:pPr>
              <a:defRPr sz="2600" b="1">
                <a:solidFill>
                  <a:srgbClr val="F8FAFC"/>
                </a:solidFill>
              </a:defRPr>
            </a:pPr>
            <a:r>
              <a:t>Cryptographic API-Key Lifecycle</a:t>
            </a:r>
          </a:p>
        </p:txBody>
      </p:sp>
      <p:sp>
        <p:nvSpPr>
          <p:cNvPr id="5" name="Rectangle 4"/>
          <p:cNvSpPr/>
          <p:nvPr/>
        </p:nvSpPr>
        <p:spPr>
          <a:xfrm>
            <a:off x="731520" y="1536192"/>
            <a:ext cx="137160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920240"/>
            <a:ext cx="10698480" cy="868680"/>
          </a:xfrm>
          <a:prstGeom prst="roundRect">
            <a:avLst/>
          </a:prstGeom>
          <a:solidFill>
            <a:srgbClr val="141B2D"/>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274320" tIns="137160"/>
          <a:lstStyle/>
          <a:p>
            <a:pPr algn="ctr">
              <a:defRPr sz="1400" b="1">
                <a:solidFill>
                  <a:srgbClr val="38BDF8"/>
                </a:solidFill>
              </a:defRPr>
            </a:pPr>
            <a:r>
              <a:t>1. Secure Generation</a:t>
            </a:r>
          </a:p>
          <a:p>
            <a:pPr>
              <a:defRPr sz="1150">
                <a:solidFill>
                  <a:srgbClr val="F8FAFC"/>
                </a:solidFill>
              </a:defRPr>
            </a:pPr>
            <a:r>
              <a:t>32 bytes (256 bits) of entropy generated via Java SecureRandom: 'asp_live_{64_hex_chars}'.</a:t>
            </a:r>
          </a:p>
        </p:txBody>
      </p:sp>
      <p:sp>
        <p:nvSpPr>
          <p:cNvPr id="7" name="Rounded Rectangle 6"/>
          <p:cNvSpPr/>
          <p:nvPr/>
        </p:nvSpPr>
        <p:spPr>
          <a:xfrm>
            <a:off x="731520" y="2971800"/>
            <a:ext cx="10698480" cy="868680"/>
          </a:xfrm>
          <a:prstGeom prst="roundRect">
            <a:avLst/>
          </a:prstGeom>
          <a:solidFill>
            <a:srgbClr val="141B2D"/>
          </a:solidFill>
          <a:ln>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lIns="274320" tIns="137160"/>
          <a:lstStyle/>
          <a:p>
            <a:pPr algn="ctr">
              <a:defRPr sz="1400" b="1">
                <a:solidFill>
                  <a:srgbClr val="818CF8"/>
                </a:solidFill>
              </a:defRPr>
            </a:pPr>
            <a:r>
              <a:t>2. One-Time Display</a:t>
            </a:r>
          </a:p>
          <a:p>
            <a:pPr>
              <a:defRPr sz="1150">
                <a:solidFill>
                  <a:srgbClr val="F8FAFC"/>
                </a:solidFill>
              </a:defRPr>
            </a:pPr>
            <a:r>
              <a:t>Raw plaintext key is displayed exactly once upon generation. Never stored or re-exposed.</a:t>
            </a:r>
          </a:p>
        </p:txBody>
      </p:sp>
      <p:sp>
        <p:nvSpPr>
          <p:cNvPr id="8" name="Rounded Rectangle 7"/>
          <p:cNvSpPr/>
          <p:nvPr/>
        </p:nvSpPr>
        <p:spPr>
          <a:xfrm>
            <a:off x="731520" y="4023360"/>
            <a:ext cx="10698480" cy="868680"/>
          </a:xfrm>
          <a:prstGeom prst="roundRect">
            <a:avLst/>
          </a:prstGeom>
          <a:solidFill>
            <a:srgbClr val="141B2D"/>
          </a:solidFill>
          <a:ln>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lIns="274320" tIns="137160"/>
          <a:lstStyle/>
          <a:p>
            <a:pPr algn="ctr">
              <a:defRPr sz="1400" b="1">
                <a:solidFill>
                  <a:srgbClr val="34D399"/>
                </a:solidFill>
              </a:defRPr>
            </a:pPr>
            <a:r>
              <a:t>3. SHA-256 Storage</a:t>
            </a:r>
          </a:p>
          <a:p>
            <a:pPr>
              <a:defRPr sz="1150">
                <a:solidFill>
                  <a:srgbClr val="F8FAFC"/>
                </a:solidFill>
              </a:defRPr>
            </a:pPr>
            <a:r>
              <a:t>Only 64-character SHA-256 hashes are persisted. Immune to credential theft even on full DB leak.</a:t>
            </a:r>
          </a:p>
        </p:txBody>
      </p:sp>
      <p:sp>
        <p:nvSpPr>
          <p:cNvPr id="9" name="Rounded Rectangle 8"/>
          <p:cNvSpPr/>
          <p:nvPr/>
        </p:nvSpPr>
        <p:spPr>
          <a:xfrm>
            <a:off x="731520" y="5074920"/>
            <a:ext cx="10698480" cy="868680"/>
          </a:xfrm>
          <a:prstGeom prst="roundRect">
            <a:avLst/>
          </a:prstGeom>
          <a:solidFill>
            <a:srgbClr val="141B2D"/>
          </a:solidFill>
          <a:ln>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lIns="274320" tIns="137160"/>
          <a:lstStyle/>
          <a:p>
            <a:pPr algn="ctr">
              <a:defRPr sz="1400" b="1">
                <a:solidFill>
                  <a:srgbClr val="F43F5E"/>
                </a:solidFill>
              </a:defRPr>
            </a:pPr>
            <a:r>
              <a:t>4. Instant Revocation</a:t>
            </a:r>
          </a:p>
          <a:p>
            <a:pPr>
              <a:defRPr sz="1150">
                <a:solidFill>
                  <a:srgbClr val="F8FAFC"/>
                </a:solidFill>
              </a:defRPr>
            </a:pPr>
            <a:r>
              <a:t>Revoking a key immediately marks it as REVOKED; gateway blocks calls with HTTP 401 Unauthorized.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347472"/>
          </a:xfrm>
          <a:prstGeom prst="roundRect">
            <a:avLst/>
          </a:prstGeom>
          <a:solidFill>
            <a:srgbClr val="1E2944"/>
          </a:solidFill>
          <a:ln>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38BDF8"/>
                </a:solidFill>
              </a:defRPr>
            </a:pPr>
            <a:r>
              <a:t>SLIDE 08/12  |  SPEAKER: YOU (LEAD)</a:t>
            </a:r>
          </a:p>
        </p:txBody>
      </p:sp>
      <p:sp>
        <p:nvSpPr>
          <p:cNvPr id="4" name="TextBox 3"/>
          <p:cNvSpPr txBox="1"/>
          <p:nvPr/>
        </p:nvSpPr>
        <p:spPr>
          <a:xfrm>
            <a:off x="731520" y="777240"/>
            <a:ext cx="10698480" cy="731520"/>
          </a:xfrm>
          <a:prstGeom prst="rect">
            <a:avLst/>
          </a:prstGeom>
          <a:noFill/>
        </p:spPr>
        <p:txBody>
          <a:bodyPr wrap="square">
            <a:spAutoFit/>
          </a:bodyPr>
          <a:lstStyle/>
          <a:p>
            <a:pPr>
              <a:defRPr sz="2600" b="1">
                <a:solidFill>
                  <a:srgbClr val="F8FAFC"/>
                </a:solidFill>
              </a:defRPr>
            </a:pPr>
            <a:r>
              <a:t>Server-Side Request Forgery (SSRF) Defense</a:t>
            </a:r>
          </a:p>
        </p:txBody>
      </p:sp>
      <p:sp>
        <p:nvSpPr>
          <p:cNvPr id="5" name="Rectangle 4"/>
          <p:cNvSpPr/>
          <p:nvPr/>
        </p:nvSpPr>
        <p:spPr>
          <a:xfrm>
            <a:off x="731520" y="1536192"/>
            <a:ext cx="137160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2011680"/>
            <a:ext cx="5212080" cy="3931920"/>
          </a:xfrm>
          <a:prstGeom prst="roundRect">
            <a:avLst/>
          </a:prstGeom>
          <a:solidFill>
            <a:srgbClr val="141B2D"/>
          </a:solidFill>
          <a:ln>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lIns="365760" tIns="365760"/>
          <a:lstStyle/>
          <a:p>
            <a:pPr algn="ctr">
              <a:defRPr sz="1700" b="1">
                <a:solidFill>
                  <a:srgbClr val="F43F5E"/>
                </a:solidFill>
              </a:defRPr>
            </a:pPr>
            <a:r>
              <a:t>The SSRF Attack Vector</a:t>
            </a:r>
          </a:p>
          <a:p>
            <a:pPr>
              <a:defRPr sz="1300">
                <a:solidFill>
                  <a:srgbClr val="F8FAFC"/>
                </a:solidFill>
              </a:defRPr>
            </a:pPr>
            <a:r>
              <a:t>Attackers register upstream target URLs pointing to internal cloud metadata (like AWS/GCP 169.254.169.254) to steal temporary IAM cloud access tokens.</a:t>
            </a:r>
          </a:p>
        </p:txBody>
      </p:sp>
      <p:sp>
        <p:nvSpPr>
          <p:cNvPr id="7" name="Rounded Rectangle 6"/>
          <p:cNvSpPr/>
          <p:nvPr/>
        </p:nvSpPr>
        <p:spPr>
          <a:xfrm>
            <a:off x="6217920" y="2011680"/>
            <a:ext cx="5212080" cy="3931920"/>
          </a:xfrm>
          <a:prstGeom prst="roundRect">
            <a:avLst/>
          </a:prstGeom>
          <a:solidFill>
            <a:srgbClr val="141B2D"/>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365760" tIns="365760"/>
          <a:lstStyle/>
          <a:p>
            <a:pPr algn="ctr">
              <a:defRPr sz="1700" b="1">
                <a:solidFill>
                  <a:srgbClr val="38BDF8"/>
                </a:solidFill>
              </a:defRPr>
            </a:pPr>
            <a:r>
              <a:t>Multi-Layer Guardrails</a:t>
            </a:r>
          </a:p>
          <a:p>
            <a:pPr>
              <a:defRPr sz="1300">
                <a:solidFill>
                  <a:srgbClr val="F8FAFC"/>
                </a:solidFill>
              </a:defRPr>
            </a:pPr>
            <a:r>
              <a:t>• Scheme Whitelisting: Strictly permits http and https</a:t>
            </a:r>
            <a:br/>
            <a:r>
              <a:t>• Credential Rejection: Disallows user:pass@host</a:t>
            </a:r>
            <a:br/>
            <a:r>
              <a:t>• Cloud Blacklist: Explicitly blocks metadata endpoints</a:t>
            </a:r>
            <a:br/>
            <a:r>
              <a:t>• DNS Resolution: Blocks private subnets and loopbacks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347472"/>
          </a:xfrm>
          <a:prstGeom prst="roundRect">
            <a:avLst/>
          </a:prstGeom>
          <a:solidFill>
            <a:srgbClr val="1E2944"/>
          </a:solidFill>
          <a:ln>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38BDF8"/>
                </a:solidFill>
              </a:defRPr>
            </a:pPr>
            <a:r>
              <a:t>SLIDE 09/12  |  SPEAKER: YOU (LEAD)</a:t>
            </a:r>
          </a:p>
        </p:txBody>
      </p:sp>
      <p:sp>
        <p:nvSpPr>
          <p:cNvPr id="4" name="TextBox 3"/>
          <p:cNvSpPr txBox="1"/>
          <p:nvPr/>
        </p:nvSpPr>
        <p:spPr>
          <a:xfrm>
            <a:off x="731520" y="777240"/>
            <a:ext cx="10698480" cy="731520"/>
          </a:xfrm>
          <a:prstGeom prst="rect">
            <a:avLst/>
          </a:prstGeom>
          <a:noFill/>
        </p:spPr>
        <p:txBody>
          <a:bodyPr wrap="square">
            <a:spAutoFit/>
          </a:bodyPr>
          <a:lstStyle/>
          <a:p>
            <a:pPr>
              <a:defRPr sz="2600" b="1">
                <a:solidFill>
                  <a:srgbClr val="F8FAFC"/>
                </a:solidFill>
              </a:defRPr>
            </a:pPr>
            <a:r>
              <a:t>Gateway Dynamic Proxy Inspection Pipeline</a:t>
            </a:r>
          </a:p>
        </p:txBody>
      </p:sp>
      <p:sp>
        <p:nvSpPr>
          <p:cNvPr id="5" name="Rectangle 4"/>
          <p:cNvSpPr/>
          <p:nvPr/>
        </p:nvSpPr>
        <p:spPr>
          <a:xfrm>
            <a:off x="731520" y="1536192"/>
            <a:ext cx="137160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2011680"/>
            <a:ext cx="3383280" cy="3931920"/>
          </a:xfrm>
          <a:prstGeom prst="roundRect">
            <a:avLst/>
          </a:prstGeom>
          <a:solidFill>
            <a:srgbClr val="141B2D"/>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defRPr sz="1500" b="1">
                <a:solidFill>
                  <a:srgbClr val="38BDF8"/>
                </a:solidFill>
              </a:defRPr>
            </a:pPr>
            <a:r>
              <a:t>1. Dynamic Route Resolution</a:t>
            </a:r>
          </a:p>
          <a:p>
            <a:pPr>
              <a:defRPr sz="1150">
                <a:solidFill>
                  <a:srgbClr val="F8FAFC"/>
                </a:solidFill>
              </a:defRPr>
            </a:pPr>
            <a:r>
              <a:t>Incoming request at /proxy/{apiId}/** is dynamically mapped to registered upstream destination with zero gateway restarts.</a:t>
            </a:r>
          </a:p>
        </p:txBody>
      </p:sp>
      <p:sp>
        <p:nvSpPr>
          <p:cNvPr id="7" name="Rounded Rectangle 6"/>
          <p:cNvSpPr/>
          <p:nvPr/>
        </p:nvSpPr>
        <p:spPr>
          <a:xfrm>
            <a:off x="4389120" y="2011680"/>
            <a:ext cx="3383280" cy="3931920"/>
          </a:xfrm>
          <a:prstGeom prst="roundRect">
            <a:avLst/>
          </a:prstGeom>
          <a:solidFill>
            <a:srgbClr val="141B2D"/>
          </a:solidFill>
          <a:ln>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defRPr sz="1500" b="1">
                <a:solidFill>
                  <a:srgbClr val="818CF8"/>
                </a:solidFill>
              </a:defRPr>
            </a:pPr>
            <a:r>
              <a:t>2. Multi-Policy Verification</a:t>
            </a:r>
          </a:p>
          <a:p>
            <a:pPr>
              <a:defRPr sz="1150">
                <a:solidFill>
                  <a:srgbClr val="F8FAFC"/>
                </a:solidFill>
              </a:defRPr>
            </a:pPr>
            <a:r>
              <a:t>• Status Check: Rejects inactive APIs (403)</a:t>
            </a:r>
            <a:br/>
            <a:r>
              <a:t>• Authentication: Validates SHA-256 API key or Bearer JWT (401)</a:t>
            </a:r>
            <a:br/>
            <a:r>
              <a:t>• Method Whitelist: Rejects unpermitted verbs like DELETE (405)</a:t>
            </a:r>
            <a:br/>
            <a:r>
              <a:t>• Path Prefix Check: Restricts unauthorized subpaths (403)</a:t>
            </a:r>
            <a:br/>
            <a:r>
              <a:t>• Payload Bounds: Rejects oversized request bodies (413)</a:t>
            </a:r>
          </a:p>
        </p:txBody>
      </p:sp>
      <p:sp>
        <p:nvSpPr>
          <p:cNvPr id="8" name="Rounded Rectangle 7"/>
          <p:cNvSpPr/>
          <p:nvPr/>
        </p:nvSpPr>
        <p:spPr>
          <a:xfrm>
            <a:off x="8046720" y="2011680"/>
            <a:ext cx="3383280" cy="3931920"/>
          </a:xfrm>
          <a:prstGeom prst="roundRect">
            <a:avLst/>
          </a:prstGeom>
          <a:solidFill>
            <a:srgbClr val="141B2D"/>
          </a:solidFill>
          <a:ln>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defRPr sz="1500" b="1">
                <a:solidFill>
                  <a:srgbClr val="34D399"/>
                </a:solidFill>
              </a:defRPr>
            </a:pPr>
            <a:r>
              <a:t>3. Header Sanitization</a:t>
            </a:r>
          </a:p>
          <a:p>
            <a:pPr>
              <a:defRPr sz="1150">
                <a:solidFill>
                  <a:srgbClr val="F8FAFC"/>
                </a:solidFill>
              </a:defRPr>
            </a:pPr>
            <a:r>
              <a:t>Strips the secret 'X-API-Key' header before forwarding upstream, keeping internal microservices isolated from client credentials.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347472"/>
          </a:xfrm>
          <a:prstGeom prst="roundRect">
            <a:avLst/>
          </a:prstGeom>
          <a:solidFill>
            <a:srgbClr val="1E2944"/>
          </a:solidFill>
          <a:ln>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38BDF8"/>
                </a:solidFill>
              </a:defRPr>
            </a:pPr>
            <a:r>
              <a:t>SLIDE 10/12  |  SPEAKER: YOU (LEAD)</a:t>
            </a:r>
          </a:p>
        </p:txBody>
      </p:sp>
      <p:sp>
        <p:nvSpPr>
          <p:cNvPr id="4" name="TextBox 3"/>
          <p:cNvSpPr txBox="1"/>
          <p:nvPr/>
        </p:nvSpPr>
        <p:spPr>
          <a:xfrm>
            <a:off x="731520" y="777240"/>
            <a:ext cx="10698480" cy="731520"/>
          </a:xfrm>
          <a:prstGeom prst="rect">
            <a:avLst/>
          </a:prstGeom>
          <a:noFill/>
        </p:spPr>
        <p:txBody>
          <a:bodyPr wrap="square">
            <a:spAutoFit/>
          </a:bodyPr>
          <a:lstStyle/>
          <a:p>
            <a:pPr>
              <a:defRPr sz="2600" b="1">
                <a:solidFill>
                  <a:srgbClr val="F8FAFC"/>
                </a:solidFill>
              </a:defRPr>
            </a:pPr>
            <a:r>
              <a:t>Distributed &amp; Resilient Rate Limiting</a:t>
            </a:r>
          </a:p>
        </p:txBody>
      </p:sp>
      <p:sp>
        <p:nvSpPr>
          <p:cNvPr id="5" name="Rectangle 4"/>
          <p:cNvSpPr/>
          <p:nvPr/>
        </p:nvSpPr>
        <p:spPr>
          <a:xfrm>
            <a:off x="731520" y="1536192"/>
            <a:ext cx="137160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2011680"/>
            <a:ext cx="3383280" cy="3931920"/>
          </a:xfrm>
          <a:prstGeom prst="roundRect">
            <a:avLst/>
          </a:prstGeom>
          <a:solidFill>
            <a:srgbClr val="141B2D"/>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defRPr sz="1500" b="1">
                <a:solidFill>
                  <a:srgbClr val="38BDF8"/>
                </a:solidFill>
              </a:defRPr>
            </a:pPr>
            <a:r>
              <a:t>Distributed Redis Engine</a:t>
            </a:r>
          </a:p>
          <a:p>
            <a:pPr>
              <a:defRPr sz="1200">
                <a:solidFill>
                  <a:srgbClr val="F8FAFC"/>
                </a:solidFill>
              </a:defRPr>
            </a:pPr>
            <a:r>
              <a:t>Primary production engine. Uses atomic INCR on a 1-second sliding window (ratelimit:{apiId}:{timestamp}) with 2-second TTL. Scales across multiple gateway replicas.</a:t>
            </a:r>
          </a:p>
        </p:txBody>
      </p:sp>
      <p:sp>
        <p:nvSpPr>
          <p:cNvPr id="7" name="Rounded Rectangle 6"/>
          <p:cNvSpPr/>
          <p:nvPr/>
        </p:nvSpPr>
        <p:spPr>
          <a:xfrm>
            <a:off x="4389120" y="2011680"/>
            <a:ext cx="3383280" cy="3931920"/>
          </a:xfrm>
          <a:prstGeom prst="roundRect">
            <a:avLst/>
          </a:prstGeom>
          <a:solidFill>
            <a:srgbClr val="141B2D"/>
          </a:solidFill>
          <a:ln>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defRPr sz="1500" b="1">
                <a:solidFill>
                  <a:srgbClr val="818CF8"/>
                </a:solidFill>
              </a:defRPr>
            </a:pPr>
            <a:r>
              <a:t>In-Memory Token Bucket</a:t>
            </a:r>
          </a:p>
          <a:p>
            <a:pPr>
              <a:defRPr sz="1200">
                <a:solidFill>
                  <a:srgbClr val="F8FAFC"/>
                </a:solidFill>
              </a:defRPr>
            </a:pPr>
            <a:r>
              <a:t>Resilient fallback engine. Built with Java ConcurrentHashMap. If Redis is unreachable or during local dev, it activates automatically with zero downtime.</a:t>
            </a:r>
          </a:p>
        </p:txBody>
      </p:sp>
      <p:sp>
        <p:nvSpPr>
          <p:cNvPr id="8" name="Rounded Rectangle 7"/>
          <p:cNvSpPr/>
          <p:nvPr/>
        </p:nvSpPr>
        <p:spPr>
          <a:xfrm>
            <a:off x="8046720" y="2011680"/>
            <a:ext cx="3383280" cy="3931920"/>
          </a:xfrm>
          <a:prstGeom prst="roundRect">
            <a:avLst/>
          </a:prstGeom>
          <a:solidFill>
            <a:srgbClr val="141B2D"/>
          </a:solidFill>
          <a:ln>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defRPr sz="1500" b="1">
                <a:solidFill>
                  <a:srgbClr val="34D399"/>
                </a:solidFill>
              </a:defRPr>
            </a:pPr>
            <a:r>
              <a:t>Standard HTTP Protocol</a:t>
            </a:r>
          </a:p>
          <a:p>
            <a:pPr>
              <a:defRPr sz="1200">
                <a:solidFill>
                  <a:srgbClr val="F8FAFC"/>
                </a:solidFill>
              </a:defRPr>
            </a:pPr>
            <a:r>
              <a:t>Injects X-RateLimit-Limit, Remaining, and Reset headers into all responses. Exceeded limits return HTTP 429 Too Many Requests with Retry-After: 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347472"/>
          </a:xfrm>
          <a:prstGeom prst="roundRect">
            <a:avLst/>
          </a:prstGeom>
          <a:solidFill>
            <a:srgbClr val="1E2944"/>
          </a:solidFill>
          <a:ln>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38BDF8"/>
                </a:solidFill>
              </a:defRPr>
            </a:pPr>
            <a:r>
              <a:t>SLIDE 11/12  |  SPEAKER: FRIEND 4</a:t>
            </a:r>
          </a:p>
        </p:txBody>
      </p:sp>
      <p:sp>
        <p:nvSpPr>
          <p:cNvPr id="4" name="TextBox 3"/>
          <p:cNvSpPr txBox="1"/>
          <p:nvPr/>
        </p:nvSpPr>
        <p:spPr>
          <a:xfrm>
            <a:off x="731520" y="777240"/>
            <a:ext cx="10698480" cy="731520"/>
          </a:xfrm>
          <a:prstGeom prst="rect">
            <a:avLst/>
          </a:prstGeom>
          <a:noFill/>
        </p:spPr>
        <p:txBody>
          <a:bodyPr wrap="square">
            <a:spAutoFit/>
          </a:bodyPr>
          <a:lstStyle/>
          <a:p>
            <a:pPr>
              <a:defRPr sz="2600" b="1">
                <a:solidFill>
                  <a:srgbClr val="F8FAFC"/>
                </a:solidFill>
              </a:defRPr>
            </a:pPr>
            <a:r>
              <a:t>Future Scope: AI Threat Detection (Phase 3)</a:t>
            </a:r>
          </a:p>
        </p:txBody>
      </p:sp>
      <p:sp>
        <p:nvSpPr>
          <p:cNvPr id="5" name="Rectangle 4"/>
          <p:cNvSpPr/>
          <p:nvPr/>
        </p:nvSpPr>
        <p:spPr>
          <a:xfrm>
            <a:off x="731520" y="1536192"/>
            <a:ext cx="137160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2011680"/>
            <a:ext cx="5212080" cy="3931920"/>
          </a:xfrm>
          <a:prstGeom prst="roundRect">
            <a:avLst/>
          </a:prstGeom>
          <a:solidFill>
            <a:srgbClr val="141B2D"/>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365760" tIns="365760"/>
          <a:lstStyle/>
          <a:p>
            <a:pPr algn="ctr">
              <a:defRPr sz="1700" b="1">
                <a:solidFill>
                  <a:srgbClr val="38BDF8"/>
                </a:solidFill>
              </a:defRPr>
            </a:pPr>
            <a:r>
              <a:t>Phase 3: Machine Learning Engine</a:t>
            </a:r>
          </a:p>
          <a:p>
            <a:pPr>
              <a:defRPr sz="1300">
                <a:solidFill>
                  <a:srgbClr val="F8FAFC"/>
                </a:solidFill>
              </a:defRPr>
            </a:pPr>
            <a:r>
              <a:t>• Dedicated Python / FastAPI microservice</a:t>
            </a:r>
            <a:br/>
            <a:r>
              <a:t>• Uses Isolation Forest (unsupervised ML)</a:t>
            </a:r>
            <a:br/>
            <a:r>
              <a:t>• Evaluates velocity, latency, and status code patterns</a:t>
            </a:r>
            <a:br/>
            <a:r>
              <a:t>• Non-blocking async execution: ZERO proxy latency added</a:t>
            </a:r>
          </a:p>
        </p:txBody>
      </p:sp>
      <p:sp>
        <p:nvSpPr>
          <p:cNvPr id="7" name="Rounded Rectangle 6"/>
          <p:cNvSpPr/>
          <p:nvPr/>
        </p:nvSpPr>
        <p:spPr>
          <a:xfrm>
            <a:off x="6217920" y="2011680"/>
            <a:ext cx="5212080" cy="3931920"/>
          </a:xfrm>
          <a:prstGeom prst="roundRect">
            <a:avLst/>
          </a:prstGeom>
          <a:solidFill>
            <a:srgbClr val="141B2D"/>
          </a:solidFill>
          <a:ln>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lIns="365760" tIns="365760"/>
          <a:lstStyle/>
          <a:p>
            <a:pPr algn="ctr">
              <a:defRPr sz="1700" b="1">
                <a:solidFill>
                  <a:srgbClr val="818CF8"/>
                </a:solidFill>
              </a:defRPr>
            </a:pPr>
            <a:r>
              <a:t>Phase 4: Risk Scoring &amp; Mitigation</a:t>
            </a:r>
          </a:p>
          <a:p>
            <a:pPr>
              <a:defRPr sz="1300">
                <a:solidFill>
                  <a:srgbClr val="F8FAFC"/>
                </a:solidFill>
              </a:defRPr>
            </a:pPr>
            <a:r>
              <a:t>• Combined Risk Score (0.0 to 1.0)</a:t>
            </a:r>
            <a:br/>
            <a:r>
              <a:t>• Automated IP banning on repeated attacks</a:t>
            </a:r>
            <a:br/>
            <a:r>
              <a:t>• Security alerts sent to platform dashboard</a:t>
            </a:r>
            <a:br/>
            <a:r>
              <a:t>• Behavioral baseline profiling per registered API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347472"/>
          </a:xfrm>
          <a:prstGeom prst="roundRect">
            <a:avLst/>
          </a:prstGeom>
          <a:solidFill>
            <a:srgbClr val="1E2944"/>
          </a:solidFill>
          <a:ln>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38BDF8"/>
                </a:solidFill>
              </a:defRPr>
            </a:pPr>
            <a:r>
              <a:t>SLIDE 12/12  |  SPEAKER: FRIEND 4</a:t>
            </a:r>
          </a:p>
        </p:txBody>
      </p:sp>
      <p:sp>
        <p:nvSpPr>
          <p:cNvPr id="4" name="TextBox 3"/>
          <p:cNvSpPr txBox="1"/>
          <p:nvPr/>
        </p:nvSpPr>
        <p:spPr>
          <a:xfrm>
            <a:off x="731520" y="777240"/>
            <a:ext cx="10698480" cy="731520"/>
          </a:xfrm>
          <a:prstGeom prst="rect">
            <a:avLst/>
          </a:prstGeom>
          <a:noFill/>
        </p:spPr>
        <p:txBody>
          <a:bodyPr wrap="square">
            <a:spAutoFit/>
          </a:bodyPr>
          <a:lstStyle/>
          <a:p>
            <a:pPr>
              <a:defRPr sz="2600" b="1">
                <a:solidFill>
                  <a:srgbClr val="F8FAFC"/>
                </a:solidFill>
              </a:defRPr>
            </a:pPr>
            <a:r>
              <a:t>Conclusion &amp; Delivered Outcomes</a:t>
            </a:r>
          </a:p>
        </p:txBody>
      </p:sp>
      <p:sp>
        <p:nvSpPr>
          <p:cNvPr id="5" name="Rectangle 4"/>
          <p:cNvSpPr/>
          <p:nvPr/>
        </p:nvSpPr>
        <p:spPr>
          <a:xfrm>
            <a:off x="731520" y="1536192"/>
            <a:ext cx="137160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2011680"/>
            <a:ext cx="10698480" cy="3931920"/>
          </a:xfrm>
          <a:prstGeom prst="roundRect">
            <a:avLst/>
          </a:prstGeom>
          <a:solidFill>
            <a:srgbClr val="141B2D"/>
          </a:solidFill>
          <a:ln>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lIns="457200" tIns="365760"/>
          <a:lstStyle/>
          <a:p>
            <a:pPr algn="ctr">
              <a:defRPr sz="1800" b="1">
                <a:solidFill>
                  <a:srgbClr val="34D399"/>
                </a:solidFill>
              </a:defRPr>
            </a:pPr>
            <a:r>
              <a:t>SUMMARY OF PHASE 1 &amp; PHASE 2 DELIVERABLES</a:t>
            </a:r>
          </a:p>
          <a:p>
            <a:pPr>
              <a:defRPr sz="1300">
                <a:solidFill>
                  <a:srgbClr val="F8FAFC"/>
                </a:solidFill>
              </a:defRPr>
            </a:pPr>
            <a:r>
              <a:t>✔ High-speed reactive API Security Gateway built with Spring Cloud Gateway and Netty.</a:t>
            </a:r>
          </a:p>
          <a:p>
            <a:pPr>
              <a:defRPr sz="1300">
                <a:solidFill>
                  <a:srgbClr val="F8FAFC"/>
                </a:solidFill>
              </a:defRPr>
            </a:pPr>
            <a:r>
              <a:t>✔ Centralized Control Plane and React 19 Dashboard for managing projects and security rules.</a:t>
            </a:r>
          </a:p>
          <a:p>
            <a:pPr>
              <a:defRPr sz="1300">
                <a:solidFill>
                  <a:srgbClr val="F8FAFC"/>
                </a:solidFill>
              </a:defRPr>
            </a:pPr>
            <a:r>
              <a:t>✔ Cryptographic 256-bit API keys with SHA-256 hash storage and instant revocation.</a:t>
            </a:r>
          </a:p>
          <a:p>
            <a:pPr>
              <a:defRPr sz="1300">
                <a:solidFill>
                  <a:srgbClr val="F8FAFC"/>
                </a:solidFill>
              </a:defRPr>
            </a:pPr>
            <a:r>
              <a:t>✔ Active SSRF protection blocking link-local cloud metadata and private subnets.</a:t>
            </a:r>
          </a:p>
          <a:p>
            <a:pPr>
              <a:defRPr sz="1300">
                <a:solidFill>
                  <a:srgbClr val="F8FAFC"/>
                </a:solidFill>
              </a:defRPr>
            </a:pPr>
            <a:r>
              <a:t>✔ Dual-tier distributed rate limiting with automatic in-memory Token Bucket fallback.</a:t>
            </a:r>
          </a:p>
          <a:p>
            <a:pPr>
              <a:defRPr sz="1300">
                <a:solidFill>
                  <a:srgbClr val="F8FAFC"/>
                </a:solidFill>
              </a:defRPr>
            </a:pPr>
            <a:r>
              <a:t>✔ Protects microservices with ZERO upstream code modifications required.</a:t>
            </a:r>
          </a:p>
          <a:p>
            <a:pPr>
              <a:defRPr sz="1300">
                <a:solidFill>
                  <a:srgbClr val="F8FAFC"/>
                </a:solidFill>
              </a:defRPr>
            </a:pPr>
          </a:p>
          <a:p>
            <a:pPr>
              <a:defRPr sz="1600" b="1">
                <a:solidFill>
                  <a:srgbClr val="38BDF8"/>
                </a:solidFill>
              </a:defRPr>
            </a:pPr>
            <a:r>
              <a:t>Thank you! We are now open for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